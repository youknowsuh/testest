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F7A32E6-B8A9-38BC-9047-109830A84688}">
          <p14:sldIdLst>
            <p14:sldId id="256"/>
            <p14:sldId id="257"/>
            <p14:sldId id="258"/>
            <p14:sldId id="259"/>
            <p14:sldId id="260"/>
          </p14:sldIdLst>
        </p14:section>
        <p14:section name="1~3  만들고 넣기" id="{E1DED38F-114F-4DF0-94E4-1F48D6BB5F70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4~6  보고, 고치고, 지우기" id="{BC1015EE-3B81-2653-BE6E-0C0C54EAB576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7~10  JOIN" id="{24EC833F-3ABE-FFCF-27EC-3E315489BDCD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11~13  계산하고 묶기" id="{E6484ABC-4158-059F-420A-834C973D446D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정리" id="{923BD5C4-D0C0-8F1A-CEB1-EB5BB3B4C024}">
          <p14:sldIdLst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617" autoAdjust="0"/>
  </p:normalViewPr>
  <p:slideViewPr>
    <p:cSldViewPr snapToGrid="0" snapToObjects="1">
      <p:cViewPr varScale="1">
        <p:scale>
          <a:sx n="65" d="100"/>
          <a:sy n="65" d="100"/>
        </p:scale>
        <p:origin x="60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47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 </a:t>
            </a:r>
            <a:r>
              <a:rPr lang="ko-KR" altLang="en-US" dirty="0"/>
              <a:t>남는 칸을 공백으로</a:t>
            </a:r>
            <a:endParaRPr lang="en-US" altLang="ko-KR" dirty="0"/>
          </a:p>
          <a:p>
            <a:r>
              <a:rPr lang="en-US" dirty="0"/>
              <a:t>VARCHAR </a:t>
            </a:r>
            <a:r>
              <a:rPr lang="ko-KR" altLang="en-US" dirty="0"/>
              <a:t>들어온 만큼만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0972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6616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D9D9D9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661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BFBFBF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0000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출석부 DB로 배우는 MySQL 핵심 실습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출석부 DB로 배우는 MySQL 핵심 실습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66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D9D9D9"/>
                </a:solidFill>
              </a:rPr>
              <a:t>DB 만들기 → 테이블 → 입력 → 조회 → 수정 → 삭제 → JOIN → 점수 변환 → 출석점수 → </a:t>
            </a:r>
            <a:r>
              <a:rPr lang="en-US" sz="1800" dirty="0" err="1">
                <a:solidFill>
                  <a:srgbClr val="D9D9D9"/>
                </a:solidFill>
              </a:rPr>
              <a:t>그룹</a:t>
            </a:r>
            <a:r>
              <a:rPr lang="en-US" sz="1800" dirty="0">
                <a:solidFill>
                  <a:srgbClr val="D9D9D9"/>
                </a:solidFill>
              </a:rPr>
              <a:t> </a:t>
            </a:r>
            <a:r>
              <a:rPr lang="en-US" sz="1800" dirty="0" err="1">
                <a:solidFill>
                  <a:srgbClr val="D9D9D9"/>
                </a:solidFill>
              </a:rPr>
              <a:t>조회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49286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SQL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만들기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DATABASE, USE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표를 담을 그릇 만들기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만들기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학생, 과목, 수강, 회차, 출석 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넣기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 INTO … VALUES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 데이터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SELECT, WHERE, ORDER BY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원하는 줄과 칸만 보기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… SET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결석을 공결로 정정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DELETE, ROLLBACK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 넣은 기록 지우기, 되돌리기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JOIN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INNER, LEFT, RIGHT, FULL, CROSS, SELF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표를 이어 붙여 출석부 만들기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 변환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CASE WHEN … THEN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 1, 지각 0.5, 결석 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출석점수 계산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SUM, COUNT, ROUND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20점 만점 출석점수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그룹별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BY, HAVING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상태별, 과목별, 15점 미만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80160"/>
            <a:ext cx="24917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89888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접속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2174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Workbench 첫 화면에서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Local instance 클릭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6956" y="1897380"/>
            <a:ext cx="29260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06140" y="1280160"/>
            <a:ext cx="24917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3300" y="1389888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파일 열기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43300" y="1828800"/>
            <a:ext cx="22174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File → Open SQL Script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출석부_DB_실습.sql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4456" y="1897380"/>
            <a:ext cx="29260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63640" y="1280160"/>
            <a:ext cx="24917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389888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실행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828800"/>
            <a:ext cx="22174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커서를 문장에 두고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Ctrl + Enter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91956" y="1897380"/>
            <a:ext cx="29260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21140" y="1280160"/>
            <a:ext cx="24917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58300" y="1389888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결과 보기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258300" y="1828800"/>
            <a:ext cx="22174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아래 Result Grid와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Output 창 확인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938986"/>
              </p:ext>
            </p:extLst>
          </p:nvPr>
        </p:nvGraphicFramePr>
        <p:xfrm>
          <a:off x="548640" y="2834640"/>
          <a:ext cx="11064240" cy="150876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단축키·아이콘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Ctrl + Enter  (번개 + I 모양)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커서가 있는 문장 하나만 실행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Ctrl + Shift + Enter  (번개 모양)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블록으로 잡은 부분, 또는 파일 전체 실행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4983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파일은 위에서부터 </a:t>
            </a:r>
            <a:r>
              <a:rPr lang="en-US" sz="1500" dirty="0" err="1">
                <a:solidFill>
                  <a:srgbClr val="595959"/>
                </a:solidFill>
              </a:rPr>
              <a:t>차례대로</a:t>
            </a:r>
            <a:r>
              <a:rPr lang="en-US" sz="1500" dirty="0">
                <a:solidFill>
                  <a:srgbClr val="595959"/>
                </a:solidFill>
              </a:rPr>
              <a:t> </a:t>
            </a:r>
            <a:r>
              <a:rPr lang="en-US" sz="1500" dirty="0" err="1">
                <a:solidFill>
                  <a:srgbClr val="595959"/>
                </a:solidFill>
              </a:rPr>
              <a:t>실행</a:t>
            </a:r>
            <a:r>
              <a:rPr lang="en-US" sz="1500" dirty="0">
                <a:solidFill>
                  <a:srgbClr val="595959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앞 단계에서 만든 표와 데이터를 </a:t>
            </a:r>
            <a:r>
              <a:rPr lang="en-US" sz="1500" dirty="0" err="1">
                <a:solidFill>
                  <a:srgbClr val="595959"/>
                </a:solidFill>
              </a:rPr>
              <a:t>뒤에서</a:t>
            </a:r>
            <a:r>
              <a:rPr lang="en-US" sz="1500" dirty="0">
                <a:solidFill>
                  <a:srgbClr val="595959"/>
                </a:solidFill>
              </a:rPr>
              <a:t> </a:t>
            </a:r>
            <a:r>
              <a:rPr lang="ko-KR" altLang="en-US" sz="1500" dirty="0">
                <a:solidFill>
                  <a:srgbClr val="595959"/>
                </a:solidFill>
              </a:rPr>
              <a:t>활용</a:t>
            </a:r>
            <a:endParaRPr lang="en-US" sz="1500" dirty="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en-US" sz="1500" dirty="0" err="1">
                <a:solidFill>
                  <a:srgbClr val="595959"/>
                </a:solidFill>
              </a:rPr>
              <a:t>꼬이면</a:t>
            </a:r>
            <a:r>
              <a:rPr lang="en-US" sz="1500" dirty="0">
                <a:solidFill>
                  <a:srgbClr val="595959"/>
                </a:solidFill>
              </a:rPr>
              <a:t> 1번(DROP DATABASE)부터 </a:t>
            </a:r>
            <a:r>
              <a:rPr lang="en-US" sz="1500" dirty="0" err="1">
                <a:solidFill>
                  <a:srgbClr val="595959"/>
                </a:solidFill>
              </a:rPr>
              <a:t>다시</a:t>
            </a:r>
            <a:r>
              <a:rPr lang="en-US" sz="1500" dirty="0">
                <a:solidFill>
                  <a:srgbClr val="595959"/>
                </a:solidFill>
              </a:rPr>
              <a:t> </a:t>
            </a:r>
            <a:r>
              <a:rPr lang="en-US" sz="1500" dirty="0" err="1">
                <a:solidFill>
                  <a:srgbClr val="595959"/>
                </a:solidFill>
              </a:rPr>
              <a:t>실행</a:t>
            </a:r>
            <a:r>
              <a:rPr lang="en-US" sz="1500" dirty="0">
                <a:solidFill>
                  <a:srgbClr val="595959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출석부 테이블 5개와 연결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68880" cy="36576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468880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PK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916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UQ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385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student_no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8541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1854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43230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43230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67919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6791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2608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92608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2468880" cy="36576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56048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645920"/>
            <a:ext cx="2468880" cy="832104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169164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PK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6916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enrollment_id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93852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FK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19385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218541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FK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1854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course_id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1280160"/>
            <a:ext cx="2468880" cy="36576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53728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0" y="1645920"/>
            <a:ext cx="24688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35440" y="169164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PK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16916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course_id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193852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646920" y="19385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course_name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235440" y="218541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646920" y="21854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professor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243230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646920" y="243230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520440"/>
            <a:ext cx="2468880" cy="36576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56048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3886200"/>
            <a:ext cx="2468880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37760" y="393192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PK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349240" y="39319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attendance_id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937760" y="417880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FK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5349240" y="41788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937760" y="442569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FK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349240" y="44256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937760" y="467258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5349240" y="467258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937760" y="491947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349240" y="49194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937760" y="516636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349240" y="51663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checked_at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144000" y="3520440"/>
            <a:ext cx="2468880" cy="36576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253728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class_sessions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144000" y="3886200"/>
            <a:ext cx="24688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235440" y="393192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PK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9646920" y="39319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235440" y="417880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</a:rPr>
              <a:t>FK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9646920" y="41788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course_id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9235440" y="442569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9646920" y="44256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session_date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9235440" y="467258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9646920" y="467258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week_no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017520" y="1828800"/>
            <a:ext cx="182880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017520" y="14996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1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4480560" y="14996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N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315200" y="1828800"/>
            <a:ext cx="182880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15200" y="14996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N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8778240" y="14996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1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0378440" y="2724912"/>
            <a:ext cx="914" cy="79552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378440" y="27614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1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10378440" y="31912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N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315200" y="4114800"/>
            <a:ext cx="182880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315200" y="37856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N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8778240" y="37856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1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783080" y="3218688"/>
            <a:ext cx="914" cy="1353312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83080" y="4572000"/>
            <a:ext cx="306324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783080" y="32552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1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480560" y="42428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N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548640" y="5120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PK </a:t>
            </a:r>
            <a:r>
              <a:rPr lang="en-US" sz="1600" dirty="0" err="1">
                <a:solidFill>
                  <a:srgbClr val="595959"/>
                </a:solidFill>
              </a:rPr>
              <a:t>기본키</a:t>
            </a:r>
            <a:r>
              <a:rPr lang="en-US" sz="1600" dirty="0">
                <a:solidFill>
                  <a:srgbClr val="595959"/>
                </a:solidFill>
              </a:rPr>
              <a:t> 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FK 외래키(다른 표의 PK를 빌려 옴) 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</a:rPr>
              <a:t>UQ </a:t>
            </a:r>
            <a:r>
              <a:rPr lang="en-US" sz="1600" dirty="0" err="1">
                <a:solidFill>
                  <a:srgbClr val="595959"/>
                </a:solidFill>
              </a:rPr>
              <a:t>중복</a:t>
            </a:r>
            <a:r>
              <a:rPr lang="en-US" sz="1600" dirty="0">
                <a:solidFill>
                  <a:srgbClr val="595959"/>
                </a:solidFill>
              </a:rPr>
              <a:t> </a:t>
            </a:r>
            <a:r>
              <a:rPr lang="en-US" sz="1600" dirty="0" err="1">
                <a:solidFill>
                  <a:srgbClr val="595959"/>
                </a:solidFill>
              </a:rPr>
              <a:t>불가</a:t>
            </a:r>
            <a:endParaRPr lang="en-US" sz="1600" dirty="0"/>
          </a:p>
        </p:txBody>
      </p:sp>
      <p:sp>
        <p:nvSpPr>
          <p:cNvPr id="8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00000"/>
                </a:solidFill>
              </a:rPr>
              <a:t>SQL쓰는</a:t>
            </a:r>
            <a:r>
              <a:rPr lang="en-US" sz="2800" b="1" dirty="0">
                <a:solidFill>
                  <a:srgbClr val="000000"/>
                </a:solidFill>
              </a:rPr>
              <a:t> 순서와 </a:t>
            </a:r>
            <a:r>
              <a:rPr lang="en-US" sz="2800" b="1" dirty="0" err="1">
                <a:solidFill>
                  <a:srgbClr val="000000"/>
                </a:solidFill>
              </a:rPr>
              <a:t>실행</a:t>
            </a:r>
            <a:r>
              <a:rPr lang="en-US" sz="2800" b="1" dirty="0">
                <a:solidFill>
                  <a:srgbClr val="000000"/>
                </a:solidFill>
              </a:rPr>
              <a:t> </a:t>
            </a:r>
            <a:r>
              <a:rPr lang="ko-KR" altLang="en-US" sz="2800" b="1" dirty="0">
                <a:solidFill>
                  <a:srgbClr val="000000"/>
                </a:solidFill>
              </a:rPr>
              <a:t>순서 다름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쓰는 순서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408176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18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93392" y="178308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57984" y="1508760"/>
            <a:ext cx="1408176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95144" y="1618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02736" y="178308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67328" y="1508760"/>
            <a:ext cx="1408176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04488" y="1618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… 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78308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76672" y="1508760"/>
            <a:ext cx="1408176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13832" y="1618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21424" y="178308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86016" y="1508760"/>
            <a:ext cx="1408176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23176" y="1618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30768" y="178308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95360" y="1508760"/>
            <a:ext cx="1408176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32520" y="1618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40112" y="178308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204704" y="1508760"/>
            <a:ext cx="1408176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41864" y="1618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실행되는 순서 = 읽는 순서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2651760"/>
            <a:ext cx="1408176" cy="9601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2761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FROM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200400"/>
            <a:ext cx="1133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</a:rPr>
              <a:t>표 가져오기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93392" y="313182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57984" y="2651760"/>
            <a:ext cx="1408176" cy="9601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95144" y="2761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JOIN 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295144" y="3200400"/>
            <a:ext cx="1133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</a:rPr>
              <a:t>표 붙이기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02736" y="313182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767328" y="2651760"/>
            <a:ext cx="1408176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04488" y="2761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WHERE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904488" y="3200400"/>
            <a:ext cx="1133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줄 거르기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313182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376672" y="2651760"/>
            <a:ext cx="1408176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13832" y="2761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GROUP BY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513832" y="3200400"/>
            <a:ext cx="1133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묶기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21424" y="313182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986016" y="2651760"/>
            <a:ext cx="1408176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23176" y="2761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HAVING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123176" y="3200400"/>
            <a:ext cx="1133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묶음 거르기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30768" y="313182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595360" y="2651760"/>
            <a:ext cx="1408176" cy="960120"/>
          </a:xfrm>
          <a:prstGeom prst="rect">
            <a:avLst/>
          </a:prstGeom>
          <a:solidFill>
            <a:srgbClr val="FFFF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32520" y="2761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SELECT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732520" y="3200400"/>
            <a:ext cx="1133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칸 고르기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040112" y="3131820"/>
            <a:ext cx="128016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204704" y="2651760"/>
            <a:ext cx="1408176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341864" y="2761488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ORDER BY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341864" y="3200400"/>
            <a:ext cx="1133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정렬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3886200"/>
            <a:ext cx="7315200" cy="1561795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1520" y="3995928"/>
            <a:ext cx="6949440" cy="1342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a.status          -- ⑤ 이름과 상태를 보여 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a                 -- ① 출석표에서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                   -- ② 학생표를 붙이고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a.student_id = s.student_id  --    번호가 같은 줄끼리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a.session_id = 1            -- ③ 1회차만 남기고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s.name;                  -- ⑥ 이름순으로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13816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SQL은 FROM부터 읽으면 쉬워요.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'어느 표에서 → 무엇을 붙여서 → 어떤 줄만 → 무엇을 보여 줘 → 어떤 순서로'</a:t>
            </a:r>
            <a:endParaRPr lang="en-US" sz="14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1~3  만들고 넣기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BFBF"/>
                </a:solidFill>
              </a:rPr>
              <a:t>DB 만들기 · 테이블 만들기 · 데이터 넣기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1. DB </a:t>
            </a:r>
            <a:r>
              <a:rPr lang="en-US" sz="2800" b="1" dirty="0" err="1">
                <a:solidFill>
                  <a:srgbClr val="000000"/>
                </a:solidFill>
              </a:rPr>
              <a:t>만들기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데이터베이스(DB)는 표들을 담는 큰 </a:t>
            </a:r>
            <a:r>
              <a:rPr lang="ko-KR" altLang="en-US" sz="1500" dirty="0">
                <a:solidFill>
                  <a:srgbClr val="000000"/>
                </a:solidFill>
              </a:rPr>
              <a:t>그릇</a:t>
            </a:r>
            <a:r>
              <a:rPr lang="en-US" altLang="ko-KR" sz="1500" dirty="0">
                <a:solidFill>
                  <a:srgbClr val="000000"/>
                </a:solidFill>
              </a:rPr>
              <a:t>.</a:t>
            </a:r>
            <a:endParaRPr lang="en-US" sz="15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Workbench 왼쪽 SCHEMAS 목록이 DB 목록이에요.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DATABASE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있으면 지우기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(실습을 처음부터)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971800"/>
            <a:ext cx="2560320" cy="1051560"/>
          </a:xfrm>
          <a:prstGeom prst="rect">
            <a:avLst/>
          </a:prstGeom>
          <a:solidFill>
            <a:srgbClr val="FFFF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utf8mb4로 새로 만들기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이 DB에서 작업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새로고침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SCHEMAS 목록에서 확인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243456"/>
              </p:ext>
            </p:extLst>
          </p:nvPr>
        </p:nvGraphicFramePr>
        <p:xfrm>
          <a:off x="548640" y="4572000"/>
          <a:ext cx="11064240" cy="16002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DROP DATABASE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안의 표와 데이터까지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모두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지워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짐</a:t>
                      </a:r>
                      <a:r>
                        <a:rPr lang="en-US" altLang="ko-KR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에서만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문자셋 utf8mb4 생략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설정에 따라 한글이 깨질 수 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있으니 필수로 기재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 없이 CREATE TABLE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1046 (No database selected)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1. DB </a:t>
            </a:r>
            <a:r>
              <a:rPr lang="en-US" sz="2800" b="1" dirty="0" err="1">
                <a:solidFill>
                  <a:srgbClr val="000000"/>
                </a:solidFill>
              </a:rPr>
              <a:t>만들기_SQL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2013509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179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DATABASE IF EXISTS attend_db;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attend_db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CHARACTER SET utf8mb4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COLLATE utf8mb4_general_ci;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attend_db;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9429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결과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9469"/>
          <a:ext cx="6126480" cy="131673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Output 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DROP DATABASE 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row(s) affected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CREATE DATABASE 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row(s) affected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 attend_db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row(s) affected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508760"/>
          <a:ext cx="4572000" cy="2377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DROP DATABASE IF EXISTS attend_db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attend_db가 있으면 지워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CREATE DATABASE attend_db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attend_db라는 DB를 만들어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DEFAULT CHARACTER SET utf8mb4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글자는 utf8mb4 방식으로 저장해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DEFAULT COLLATE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 비교·정렬 규칙은 이걸로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⑤ USE attend_db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이제부터 attend_db 안에서 작업할게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4114800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IF EXISTS 덕분에 DB가 없어도 오류가 </a:t>
            </a:r>
            <a:r>
              <a:rPr lang="en-US" sz="1300" dirty="0" err="1">
                <a:solidFill>
                  <a:srgbClr val="595959"/>
                </a:solidFill>
              </a:rPr>
              <a:t>나지</a:t>
            </a:r>
            <a:r>
              <a:rPr lang="en-US" sz="1300" dirty="0">
                <a:solidFill>
                  <a:srgbClr val="595959"/>
                </a:solidFill>
              </a:rPr>
              <a:t> 않</a:t>
            </a:r>
            <a:r>
              <a:rPr lang="ko-KR" altLang="en-US" sz="1300" dirty="0">
                <a:solidFill>
                  <a:srgbClr val="595959"/>
                </a:solidFill>
              </a:rPr>
              <a:t>음</a:t>
            </a:r>
            <a:r>
              <a:rPr lang="en-US" altLang="ko-KR" sz="1300" dirty="0">
                <a:solidFill>
                  <a:srgbClr val="595959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300" dirty="0" err="1">
                <a:solidFill>
                  <a:srgbClr val="595959"/>
                </a:solidFill>
              </a:rPr>
              <a:t>처음</a:t>
            </a:r>
            <a:r>
              <a:rPr lang="en-US" sz="1300" dirty="0">
                <a:solidFill>
                  <a:srgbClr val="595959"/>
                </a:solidFill>
              </a:rPr>
              <a:t> 실행할 때는 DROP </a:t>
            </a:r>
            <a:r>
              <a:rPr lang="en-US" sz="1300" dirty="0" err="1">
                <a:solidFill>
                  <a:srgbClr val="595959"/>
                </a:solidFill>
              </a:rPr>
              <a:t>결과에</a:t>
            </a:r>
            <a:r>
              <a:rPr lang="en-US" sz="1300" dirty="0">
                <a:solidFill>
                  <a:srgbClr val="595959"/>
                </a:solidFill>
              </a:rPr>
              <a:t> </a:t>
            </a:r>
            <a:r>
              <a:rPr lang="en-US" sz="1300" dirty="0" err="1">
                <a:solidFill>
                  <a:srgbClr val="595959"/>
                </a:solidFill>
              </a:rPr>
              <a:t>경고</a:t>
            </a:r>
            <a:r>
              <a:rPr lang="en-US" sz="1300" dirty="0">
                <a:solidFill>
                  <a:srgbClr val="595959"/>
                </a:solidFill>
              </a:rPr>
              <a:t> </a:t>
            </a:r>
            <a:r>
              <a:rPr lang="en-US" sz="1300" dirty="0" err="1">
                <a:solidFill>
                  <a:srgbClr val="595959"/>
                </a:solidFill>
              </a:rPr>
              <a:t>보일</a:t>
            </a:r>
            <a:r>
              <a:rPr lang="en-US" sz="1300" dirty="0">
                <a:solidFill>
                  <a:srgbClr val="595959"/>
                </a:solidFill>
              </a:rPr>
              <a:t> 수 있</a:t>
            </a:r>
            <a:r>
              <a:rPr lang="ko-KR" altLang="en-US" sz="1300" dirty="0">
                <a:solidFill>
                  <a:srgbClr val="595959"/>
                </a:solidFill>
              </a:rPr>
              <a:t>으나 정상</a:t>
            </a:r>
            <a:r>
              <a:rPr lang="en-US" altLang="ko-KR" sz="1300" dirty="0">
                <a:solidFill>
                  <a:srgbClr val="595959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2. </a:t>
            </a:r>
            <a:r>
              <a:rPr lang="en-US" sz="2800" b="1" dirty="0" err="1">
                <a:solidFill>
                  <a:srgbClr val="000000"/>
                </a:solidFill>
              </a:rPr>
              <a:t>테이블</a:t>
            </a:r>
            <a:r>
              <a:rPr lang="en-US" sz="2800" b="1" dirty="0">
                <a:solidFill>
                  <a:srgbClr val="000000"/>
                </a:solidFill>
              </a:rPr>
              <a:t> </a:t>
            </a:r>
            <a:r>
              <a:rPr lang="en-US" sz="2800" b="1" dirty="0" err="1">
                <a:solidFill>
                  <a:srgbClr val="000000"/>
                </a:solidFill>
              </a:rPr>
              <a:t>만들기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테이블은 칸 이름, 자료형, 규칙(제약조건)을 </a:t>
            </a:r>
            <a:r>
              <a:rPr lang="en-US" sz="1500" dirty="0" err="1">
                <a:solidFill>
                  <a:srgbClr val="000000"/>
                </a:solidFill>
              </a:rPr>
              <a:t>정해</a:t>
            </a:r>
            <a:r>
              <a:rPr lang="ko-KR" altLang="en-US" sz="1500" dirty="0">
                <a:solidFill>
                  <a:srgbClr val="000000"/>
                </a:solidFill>
              </a:rPr>
              <a:t>야 함</a:t>
            </a:r>
            <a:endParaRPr lang="en-US" sz="1500" dirty="0">
              <a:solidFill>
                <a:srgbClr val="000000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students, courses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부모 표 (가리키는 것 없음)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enrollments, class_sessions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학생·과목을 가리킴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회차·학생을 가리킴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SHOW TABLES, DESC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보기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842714"/>
              </p:ext>
            </p:extLst>
          </p:nvPr>
        </p:nvGraphicFramePr>
        <p:xfrm>
          <a:off x="548640" y="4572000"/>
          <a:ext cx="11064240" cy="16002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칸 뒤에 쉼표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문법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마지막은 </a:t>
                      </a:r>
                      <a:r>
                        <a:rPr lang="en-US" altLang="ko-KR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;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자식 표를 먼저 CREATE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가리킬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부모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표가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학번, 전화번호를 INT로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앞자리 0이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사라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짐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VARCHAR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 두 칸의 자료형이 다름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 INT로 맞추기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2. 테이블 만들기  students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197876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175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students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student_id INT AUTO_INCREMENT PRIMARY KEY,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student_no VARCHAR(20) NOT NULL UNIQUE,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VARCHAR(30) NOT NULL,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      TINYINT     NOT NULL,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department VARCHAR(30) NOT NULL,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      VARCHAR(20)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2468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DESC students 결과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44722"/>
          <a:ext cx="6126480" cy="211226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Field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student_id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student_no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varchar(30)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tinyint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department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varchar(30)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phone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(한 줄 = 칸 이름 + 자료형 + 규칙)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642730"/>
              </p:ext>
            </p:extLst>
          </p:nvPr>
        </p:nvGraphicFramePr>
        <p:xfrm>
          <a:off x="7040880" y="1508760"/>
          <a:ext cx="4826655" cy="2743200"/>
        </p:xfrm>
        <a:graphic>
          <a:graphicData uri="http://schemas.openxmlformats.org/drawingml/2006/table">
            <a:tbl>
              <a:tblPr/>
              <a:tblGrid>
                <a:gridCol w="221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students ( … 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students 표를 만들어. 칸은 괄호 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AUTO_INCREMENT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정수, 번호는 자동으로 1, 2, 3 …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PRIMARY 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칸이 대표 번호 (겹침 X, 빈칸 X)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20글자까지 글자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NULL UNIQUE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안 되고, 겹쳐도 안 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phone VARCHAR(20)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없음 = 비워 둬도 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2. 테이블 만들기  attendance (규칙과 연결)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309360" cy="298643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943600" cy="276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attendance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attendance_id INT AUTO_INCREMENT PRIMARY KEY,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session_id INT NOT NULL,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student_id INT NOT NULL,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ENUM('출석','지각','결석','공결')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NOT NULL DEFAULT '출석',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       VARCHAR(100),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checked_at DATETIME DEFAULT CURRENT_TIMESTAMP,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KEY uk_attend (session_id, student_id),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(session_id)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class_sessions(session_id),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(student_id)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students(student_id)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188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508760"/>
          <a:ext cx="4389120" cy="2852928"/>
        </p:xfrm>
        <a:graphic>
          <a:graphicData uri="http://schemas.openxmlformats.org/drawingml/2006/table">
            <a:tbl>
              <a:tblPr/>
              <a:tblGrid>
                <a:gridCol w="2106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ENUM('출석', …)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4개 값만 받아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 '출석'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값을 안 주면 '출석'으로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 CURRENT_TIMESTAMP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값을 안 주면 지금 시각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UNIQUE KEY uk_attend (session_id, student_id)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회차에 같은 학생은 1줄만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FOREIGN KEY (student_id) REFERENCES students(student_id)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students에 있는 번호만 받아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223760" y="4572000"/>
            <a:ext cx="4389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나머지 courses, enrollments, class_sessions도 </a:t>
            </a:r>
            <a:r>
              <a:rPr lang="en-US" sz="1300" dirty="0" err="1">
                <a:solidFill>
                  <a:srgbClr val="595959"/>
                </a:solidFill>
              </a:rPr>
              <a:t>같은</a:t>
            </a:r>
            <a:r>
              <a:rPr lang="en-US" sz="1300" dirty="0">
                <a:solidFill>
                  <a:srgbClr val="595959"/>
                </a:solidFill>
              </a:rPr>
              <a:t> 방</a:t>
            </a:r>
            <a:r>
              <a:rPr lang="ko-KR" altLang="en-US" sz="1300" dirty="0">
                <a:solidFill>
                  <a:srgbClr val="595959"/>
                </a:solidFill>
              </a:rPr>
              <a:t>식</a:t>
            </a:r>
            <a:endParaRPr lang="en-US" altLang="ko-KR" sz="1300" dirty="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SQL 파일 2번을 한 번에 실행한 뒤 SHOW TABLES</a:t>
            </a:r>
            <a:r>
              <a:rPr lang="ko-KR" altLang="en-US" sz="1300" dirty="0">
                <a:solidFill>
                  <a:srgbClr val="595959"/>
                </a:solidFill>
              </a:rPr>
              <a:t>로 확인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3. </a:t>
            </a:r>
            <a:r>
              <a:rPr lang="en-US" sz="2800" b="1" dirty="0" err="1">
                <a:solidFill>
                  <a:srgbClr val="000000"/>
                </a:solidFill>
              </a:rPr>
              <a:t>데이터</a:t>
            </a:r>
            <a:r>
              <a:rPr lang="en-US" sz="2800" b="1" dirty="0">
                <a:solidFill>
                  <a:srgbClr val="000000"/>
                </a:solidFill>
              </a:rPr>
              <a:t> </a:t>
            </a:r>
            <a:r>
              <a:rPr lang="en-US" sz="2800" b="1" dirty="0" err="1">
                <a:solidFill>
                  <a:srgbClr val="000000"/>
                </a:solidFill>
              </a:rPr>
              <a:t>넣기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INSERT INTO 표 (칸 목록) VALUES (값 목록). 칸 목록과 값 목록은 순서와 개수가 짝이 맞아야 해요. </a:t>
            </a:r>
          </a:p>
          <a:p>
            <a:pPr marL="0" indent="0">
              <a:buNone/>
            </a:pPr>
            <a:r>
              <a:rPr lang="en-US" sz="1500" dirty="0" err="1">
                <a:solidFill>
                  <a:srgbClr val="000000"/>
                </a:solidFill>
              </a:rPr>
              <a:t>괄호</a:t>
            </a:r>
            <a:r>
              <a:rPr lang="en-US" sz="1500" dirty="0">
                <a:solidFill>
                  <a:srgbClr val="000000"/>
                </a:solidFill>
              </a:rPr>
              <a:t> 묶음을 쉼표로 이으면 여러 줄을 한 번에 넣어요.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99339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students, courses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1719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부모 데이터 먼저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78608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16352" y="2971800"/>
            <a:ext cx="199339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53512" y="308152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enrollments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3520440"/>
            <a:ext cx="1719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누가 무엇을 듣나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84064" y="2971800"/>
            <a:ext cx="199339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21224" y="308152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class_sessions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3520440"/>
            <a:ext cx="1719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수업 날짜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14032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51776" y="2971800"/>
            <a:ext cx="199339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88936" y="308152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88936" y="3520440"/>
            <a:ext cx="1719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출석 기록 25건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81744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19488" y="2971800"/>
            <a:ext cx="199339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56648" y="308152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 확인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56648" y="3520440"/>
            <a:ext cx="1719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6 / 3 / 8 / 6 / 25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16002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글자, 날짜에 따옴표 빠짐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1054 → '김하늘', '2026-09-01'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부모보다 자식 데이터를 먼저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1452 (없는 번호를 가리킴)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AUTO_INCREMENT 칸에 값 넣기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 목록에서 빼면 자동으로 번호가 붙어요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INSERT를 두 번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1062 (중복) → 1번부터 다시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3. 데이터 </a:t>
            </a:r>
            <a:r>
              <a:rPr lang="en-US" sz="2800" b="1" dirty="0" err="1">
                <a:solidFill>
                  <a:srgbClr val="000000"/>
                </a:solidFill>
              </a:rPr>
              <a:t>넣기</a:t>
            </a:r>
            <a:r>
              <a:rPr lang="en-US" sz="2800" b="1" dirty="0">
                <a:solidFill>
                  <a:srgbClr val="000000"/>
                </a:solidFill>
              </a:rPr>
              <a:t>  SQL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203088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6035040" cy="1811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(student_no, name, grade, department, phone)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('20260001', '김하늘', 1, '문헌정보', '010-1111-0001'),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('20260002', '이바다', 1, '문헌정보', NULL),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('20240006', '강한별', 3, '문헌정보', '010-1111-0006');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(SELECT COUNT(*) FROM students) AS students, …;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7680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확인 결과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96842"/>
          <a:ext cx="6400800" cy="65836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students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courses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enrollments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attendance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08760"/>
          <a:ext cx="4297680" cy="2377440"/>
        </p:xfrm>
        <a:graphic>
          <a:graphicData uri="http://schemas.openxmlformats.org/drawingml/2006/table">
            <a:tbl>
              <a:tblPr/>
              <a:tblGrid>
                <a:gridCol w="206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 INTO students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students 표에 넣어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(student_no, name, …)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칸들에, 이 순서로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VALUES ('20260001', …)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값들을. 첫 칸엔 첫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없음 (연락처 미제출)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 … ), ( … 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쉼표로 이으면 여러 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315200" y="4114800"/>
            <a:ext cx="4297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student_id는 칸 목록에 없어요. AUTO_INCREMENT라 1부터 자동으로 붙어요.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3. 넣은 데이터 한눈에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26883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학년·학과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1주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2주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3주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4주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1주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2주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문헌정보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문헌정보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문헌정보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경영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 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정다솜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경영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문헌정보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840886"/>
              </p:ext>
            </p:extLst>
          </p:nvPr>
        </p:nvGraphicFramePr>
        <p:xfrm>
          <a:off x="548640" y="4206240"/>
          <a:ext cx="11064240" cy="18288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고려사항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정다솜: 수강 신청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LEFT JOIN에서 NULL로 보이는 학생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독서치료: 신청자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RIGHT JOIN에서 0명으로 보이는 과목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 4주차: 체크 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 안 된 칸 찾기, 출석점수 계산의 함정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이바다, 정다솜: 연락처 NULL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 NULL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4~6  보고, 고치고, 지우기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BFBF"/>
                </a:solidFill>
              </a:rPr>
              <a:t>SELECT · UPDATE · DELETE · 트랜잭션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4. </a:t>
            </a:r>
            <a:r>
              <a:rPr lang="en-US" sz="2800" b="1" dirty="0" err="1">
                <a:solidFill>
                  <a:srgbClr val="000000"/>
                </a:solidFill>
              </a:rPr>
              <a:t>조회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SELECT는 표에서 원하는 칸(열)과 줄(행)만 </a:t>
            </a:r>
            <a:r>
              <a:rPr lang="en-US" sz="1500" dirty="0" err="1">
                <a:solidFill>
                  <a:srgbClr val="000000"/>
                </a:solidFill>
              </a:rPr>
              <a:t>골라</a:t>
            </a:r>
            <a:r>
              <a:rPr lang="en-US" sz="1500" dirty="0">
                <a:solidFill>
                  <a:srgbClr val="000000"/>
                </a:solidFill>
              </a:rPr>
              <a:t> 보</a:t>
            </a:r>
            <a:r>
              <a:rPr lang="ko-KR" altLang="en-US" sz="1500" dirty="0">
                <a:solidFill>
                  <a:srgbClr val="000000"/>
                </a:solidFill>
              </a:rPr>
              <a:t>기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500" dirty="0" err="1">
                <a:solidFill>
                  <a:srgbClr val="000000"/>
                </a:solidFill>
              </a:rPr>
              <a:t>보기만</a:t>
            </a:r>
            <a:r>
              <a:rPr lang="en-US" sz="1500" dirty="0">
                <a:solidFill>
                  <a:srgbClr val="000000"/>
                </a:solidFill>
              </a:rPr>
              <a:t> 하므로 데이터는 </a:t>
            </a:r>
            <a:r>
              <a:rPr lang="en-US" sz="1500" dirty="0" err="1">
                <a:solidFill>
                  <a:srgbClr val="000000"/>
                </a:solidFill>
              </a:rPr>
              <a:t>바뀌지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ko-KR" altLang="en-US" sz="1500" dirty="0">
                <a:solidFill>
                  <a:srgbClr val="000000"/>
                </a:solidFill>
              </a:rPr>
              <a:t>않고</a:t>
            </a:r>
            <a:r>
              <a:rPr lang="en-US" altLang="ko-KR" sz="1500" dirty="0">
                <a:solidFill>
                  <a:srgbClr val="000000"/>
                </a:solidFill>
              </a:rPr>
              <a:t>,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ko-KR" altLang="en-US" sz="1500" dirty="0">
                <a:solidFill>
                  <a:srgbClr val="000000"/>
                </a:solidFill>
              </a:rPr>
              <a:t>가장 많이 사용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FROM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어느 표에서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WHERE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어떤 줄만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SELECT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어떤 칸을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ORDER BY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어떤 순서로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16002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phone = NULL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 0줄 → phone IS NULL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department = 경영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1054 → '경영' (따옴표)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 = '김%'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0줄 → name LIKE '김%'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OR B AND 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AND가 먼저 계산 → 괄호로 묶기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4. </a:t>
            </a:r>
            <a:r>
              <a:rPr lang="en-US" sz="2800" b="1" dirty="0" err="1">
                <a:solidFill>
                  <a:srgbClr val="000000"/>
                </a:solidFill>
              </a:rPr>
              <a:t>조회</a:t>
            </a:r>
            <a:r>
              <a:rPr lang="en-US" sz="2800" b="1" dirty="0">
                <a:solidFill>
                  <a:srgbClr val="000000"/>
                </a:solidFill>
              </a:rPr>
              <a:t>  SQL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135331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grade, department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grade =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name;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9923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 3줄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19272"/>
          <a:ext cx="6126480" cy="13167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department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정다솜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14658"/>
              </p:ext>
            </p:extLst>
          </p:nvPr>
        </p:nvGraphicFramePr>
        <p:xfrm>
          <a:off x="7040880" y="1508760"/>
          <a:ext cx="4572000" cy="190195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FROM students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학생표에서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WHERE grade = 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1학년인 줄만 남기고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SELECT name, grade, department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이름, 학년, 학과 칸을 보여 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ORDER BY 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가나다순으로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3639312"/>
            <a:ext cx="457200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SELECT * 의 * 는 '모든 칸'이에요.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ORDER BY 뒤에 DESC를 붙이면 큰 것(ㅎ, 최근 날짜)부터예요.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4. 조회  여러 가지 조건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3968496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WHERE 조건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읽는 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phone IS NULL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연락처가 비어 있는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이바다, 정다솜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 LIKE '%다%'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어디든 '다'가 있는 (%는 아무 글자 0개 이상)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이바다, 정다솜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grade IN (2, 3)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학년이 2 또는 3인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강한별, 박구름, 최나무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session_date BETWEEN '2026-09-08' AND '2026-09-15'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9/8 이상 9/15 이하 (양 끝 포함)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회차 2, 6, 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grade = 1 AND department = '문헌정보'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 맞는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김하늘, 이바다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department = '경영' OR grade = 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하나만 맞아도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최나무, 정다솜, 강한별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5. </a:t>
            </a:r>
            <a:r>
              <a:rPr lang="en-US" sz="2800" b="1" dirty="0" err="1">
                <a:solidFill>
                  <a:srgbClr val="000000"/>
                </a:solidFill>
              </a:rPr>
              <a:t>수정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UPDATE 표 SET 칸 = 새 값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WHERE 조건. WHERE에 맞는 줄의 값만 바뀌고 줄 </a:t>
            </a:r>
            <a:r>
              <a:rPr lang="en-US" sz="1500" dirty="0" err="1">
                <a:solidFill>
                  <a:srgbClr val="000000"/>
                </a:solidFill>
              </a:rPr>
              <a:t>수는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그대로</a:t>
            </a:r>
            <a:endParaRPr lang="en-US" sz="15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500" dirty="0" err="1">
                <a:solidFill>
                  <a:srgbClr val="000000"/>
                </a:solidFill>
              </a:rPr>
              <a:t>고치기</a:t>
            </a:r>
            <a:r>
              <a:rPr lang="en-US" sz="1500" dirty="0">
                <a:solidFill>
                  <a:srgbClr val="000000"/>
                </a:solidFill>
              </a:rPr>
              <a:t> 전에 SELECT로 대상을 먼저 확인하는 습관이 </a:t>
            </a:r>
            <a:r>
              <a:rPr lang="en-US" sz="1500" dirty="0" err="1">
                <a:solidFill>
                  <a:srgbClr val="000000"/>
                </a:solidFill>
              </a:rPr>
              <a:t>가장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중요</a:t>
            </a:r>
            <a:r>
              <a:rPr lang="en-US" sz="1500" dirty="0">
                <a:solidFill>
                  <a:srgbClr val="000000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SELECT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고칠 줄 찾기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번호 확인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attendance_id = 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UPDATE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SET … WHERE id = 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SELECT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바뀐 값 확인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16002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WHERE 없이 UPDATE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줄이 바뀌어요. Safe Updates가 Error 1175로 막아 줘요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WHERE에 이름 같은 일반 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이름이 있으면 여러 줄이 바뀜 → PK로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 a = 1 AND b = 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a에 (1 AND b = 2)의 참/거짓이 들어가요 → 쉼표로 SET a = 1, b = 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5. 수정  SQL과 해석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260421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2384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attendance_id, session_id, student_id,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status, memo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session_id = 2 AND student_id = 2;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attendance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status = '공결', memo = '진단서 제출'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attendance_id = 7;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attendance_id, status, memo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WHERE attendance_id = 7;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0131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0171"/>
          <a:ext cx="612648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attendance_id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고치기 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고친 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진단서 제출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508760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UPDATE attendance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출석표를 고칠 거야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WHERE attendance_id = 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7번 줄만 (이바다 2주차)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SET status = '공결', memo = '진단서 제출'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상태는 공결로, 메모는 이렇게 바꿔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3657600"/>
            <a:ext cx="4572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UPDATE는 '어느 표 → 어느 줄 → 무엇을' 순서로 읽어요. 이 변경은 뒤의 JOIN과 점수 계산 결과에 그대로 반영돼요.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6. 삭제  핵심 개념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핵심 개념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DELETE FROM 표 WHERE 조건은 조건에 맞는 줄을 통째로 지워요. Workbench는 문장마다 바로 저장(자동 COMMIT)하므로, 되돌리고 싶은 작업은 START TRANSACTION으로 시작해요.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SELECT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지울 줄 확인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DELETE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WHERE로 그 줄만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SELECT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지워졌는지 확인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START → 작업 → ROLLBACK 또는 COMMIT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WHERE 없이 DELETE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줄 삭제. Safe Updates가 Error 1175로 막아 줘요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 기록이 있는 학생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1451 → 자식 기록부터 지우기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COMMIT 후 ROLLBACK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확정돼서 돌아오지 않아요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TRUNCATE, DROP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확정이라 ROLLBACK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6. 삭제  잘못 넣은 기록 지우기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260421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6035040" cy="2384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정다솜 출석을 잘못 넣음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attendance (session_id, student_id, status)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5, '출석');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attendance_id, session_id, student_id,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WHERE student_id = 5;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attendance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session_id = 1 AND student_id = 5;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남은기록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WHERE student_id = 5;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0131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0171"/>
          <a:ext cx="640080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attendance_id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student_id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지우기 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지운 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(남은기록 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08760"/>
          <a:ext cx="4297680" cy="914400"/>
        </p:xfrm>
        <a:graphic>
          <a:graphicData uri="http://schemas.openxmlformats.org/drawingml/2006/table">
            <a:tbl>
              <a:tblPr/>
              <a:tblGrid>
                <a:gridCol w="206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DELETE FROM attendance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출석표에서 지워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WHERE session_id = 1 AND student_id = 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1회차의 5번 학생 줄만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315200" y="3108960"/>
            <a:ext cx="4297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DELETE 뒤에는 칸 이름을 쓰지 않아요. 줄을 통째로 지우기 때문이에요. 칸 하나만 비우려면 UPDATE … SET 칸 = NULL을 써요.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6. 삭제  트랜잭션으로 되돌리기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279532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2575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attendance WHERE session_id = 4;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개수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WHERE session_id = 4;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개수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WHERE session_id = 4;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41241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61281"/>
          <a:ext cx="6126480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4주차 기록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DELETE 직후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ROLLBACK 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508760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START TRANSACTION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지금부터 연습장에 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DELETE … session_id = 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4주차 기록을 모두 지워 (실수!)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SELECT COUNT(*)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 → 지워진 것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ROLLBACK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연습장을 찢어. 시작 전으로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⑤ SELECT COUNT(*)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 → 돌아왔어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4114800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ROLLBACK 대신 COMMIT을 실행하면 삭제가 확정돼요. 중요한 UPDATE, DELETE는 이렇게 트랜잭션 안에서 결과를 본 뒤 확정해요.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7~10  JOIN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BFBF"/>
                </a:solidFill>
              </a:rPr>
              <a:t>INNER · LEFT · RIGHT · FULL · CROSS · SELF · 여러 테이블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7. INNER JOIN  핵심 개념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핵심 개념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JOIN은 나눠 놓은 표를 같은 번호로 다시 이어 붙이는 것이에요. INNER JOIN은 ON 조건에 맞는 짝이 양쪽에 다 있는 줄만 보여 줘요.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FROM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기준 표 (attendance 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INNER JOIN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붙일 표 (students 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번호가 같은 줄끼리 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WHERE, SELECT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거르고 칸 고르기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ON을 빠뜨림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조합이 나와요 (25 × 6 = 150줄)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 student_id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1052 (두 표에 다 있음) → a.student_id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짝이 없는 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결과에서 빠져요 → 남기려면 LEFT JOIN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7. INNER JOIN  SQL과 해석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177027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1550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a.session_id, s.name, a.status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students 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a.student_id = s.student_id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a.session_id =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s.student_id;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1619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 5줄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36238"/>
          <a:ext cx="612648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508760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FROM attendance 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출석표에서 (별명 a)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INNER JOIN students 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학생표를 붙여 (별명 s)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ON a.student_id = s.student_id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a의 학생번호 = s의 학생번호인 줄끼리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WHERE a.session_id = 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1회차만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⑤ SELECT a.session_id, s.name,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회차, 이름, 상태를 보여 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⑥ ORDER BY s.student_id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 번호순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4590288"/>
            <a:ext cx="45720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a.student_id의 점(.)은 '~의'로 읽어요. INNER는 생략하고 JOIN만 써도 같아요.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8. OUTER JOIN (LEFT · RIGHT · FULL)  핵심 개념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핵심 개념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LEFT JOIN은 왼쪽(FROM) 표를 모두 남기고, 짝이 없으면 오른쪽 칸을 NULL로 채워요. RIGHT JOIN은 반대예요. FULL은 양쪽 모두인데 MySQL에는 없어서 LEFT와 RIGHT 결과를 UNION으로 합쳐요.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기준 정하기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빠짐없이 볼 표는?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63474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310896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FROM에 두기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65760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LEFT의 왼쪽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63474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310896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LEFT JOIN … 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65760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짝 맞추기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63474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310896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NULL 확인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65760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IS NULL로 짝 없는 줄 찾기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오른쪽 표 조건을 WHERE에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 줄이 사라져 INNER와 같아짐 → ON에 AND로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COUNT(*)로 개수 세기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 줄도 1로 셈 → COUNT(오른쪽 칸)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OUTER JOIN 쓰기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MySQL은 Error 1064 → LEFT UNION RIGHT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JOIN 방식 한눈에: 무엇을 남기나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학생만 있음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(정다솜)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학생·과목 짝 있음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(수강 신청 8건)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과목만 있음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(독서치료)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377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828800"/>
            <a:ext cx="2377440" cy="64008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2377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버림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0" y="1828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8줄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6700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2670048"/>
            <a:ext cx="2377440" cy="64008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2670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2670048"/>
            <a:ext cx="2377440" cy="64008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2670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2670048"/>
            <a:ext cx="2377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2440" y="2670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버림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698480" y="26700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9줄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511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91840" y="3511296"/>
            <a:ext cx="2377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3511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0" y="3511296"/>
            <a:ext cx="2377440" cy="64008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15000" y="3511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남김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0" y="3511296"/>
            <a:ext cx="2377440" cy="64008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92440" y="3511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남김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698480" y="35112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9줄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35254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(UNION)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291840" y="4352544"/>
            <a:ext cx="2377440" cy="64008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37560" y="43525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남김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0" y="4352544"/>
            <a:ext cx="2377440" cy="64008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15000" y="43525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남김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46720" y="4352544"/>
            <a:ext cx="2377440" cy="64008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92440" y="43525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남김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0" y="435254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10줄</a:t>
            </a:r>
            <a:endParaRPr lang="en-US" sz="1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578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설명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CROSS JOIN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짝을 따지지 않고 모든 조합 (학생 6 × 과목 3 = 18줄)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SELF JOIN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표에 별명 두 개를 붙여 자기 자신과 연결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8. LEFT JOIN  모든 학생과 수강 과목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189189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167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c.course_name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 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enrollments 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s.student_id = e.student_id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courses 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e.course_id = c.course_id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s.student_id, c.course_id;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3781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 9줄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7854"/>
          <a:ext cx="612648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4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course_name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4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자료조직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4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4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4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자료조직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4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4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정다솜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4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4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자료조직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508760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FROM students 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학생표를 기준으로 (모두 남겨)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LEFT JOIN enrollments e ON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수강 신청을 붙이고, 없으면 NULL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LEFT JOIN courses c ON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과목 이름을 붙이고, 없으면 NULL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SELECT s.name, c.course_name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이름과 과목명을 보여 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⑤ ORDER BY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 번호, 과목 번호순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4114800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INNER JOIN이었다면 정다솜이 빠져 8줄이에요. 수강 신청이 없는 학생만 보려면 WHERE e.student_id IS NULL을 붙여요.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8. RIGHT JOIN · FULL  모든 과목, 그리고 양쪽 모두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30906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603504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모든 과목 + 수강생 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c.course_name, COUNT(e.student_id) AS 수강생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enrollments 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 courses c ON e.course_id = c.course_id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c.course_id, c.course_name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c.course_id;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FULL: LEFT 결과 UNION RIGHT 결과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c.course_name FROM students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enrollments e ON s.student_id = e.student_id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courses c     ON e.course_id  = c.course_id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c.course_name FROM students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 enrollments e ON s.student_id = e.student_id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 courses c     ON e.course_id  = c.course_id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1, 2;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365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RIGHT JOIN 결과 3줄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56632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course_name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수강생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자료조직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독서치료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08760"/>
          <a:ext cx="4297680" cy="914400"/>
        </p:xfrm>
        <a:graphic>
          <a:graphicData uri="http://schemas.openxmlformats.org/drawingml/2006/table">
            <a:tbl>
              <a:tblPr/>
              <a:tblGrid>
                <a:gridCol w="206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RIGHT JOIN courses 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과목표를 기준으로 (모두 남겨)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COUNT(e.student_id)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NULL은 세지 않아서 독서치료 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UNION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결과를 위아래로 합치고 중복은 하나로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FULL 결과 10줄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짝 있는 8줄 + 정다솜·NULL + NULL·독서치료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315200" y="4005072"/>
            <a:ext cx="4297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COUNT(*)로 쓰면 독서치료도 1로 세져요. NULL 줄까지 한 줄로 세기 때문이에요.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9. CROSS JOIN · SELF JOIN  핵심 개념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핵심 개념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CROSS JOIN은 짝을 따지지 않고 가능한 모든 조합을 만들어요 (행 수 = 곱하기). SELF JOIN은 같은 표에 별명을 두 개 붙여, 표 두 개처럼 자기 자신과 이어요.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표 두 개를 나열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6 × 3 = 18줄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students a, students 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짝 조건 + 중복 빼기 조건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표끼리 CROSS JOIN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1만 × 1만 = 1억 줄. 결과가 순식간에 커져요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SELF JOIN에 별명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1066 (같은 이름의 표가 둘) → a, 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a.student_id &lt; b.student_id 빼먹음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자신과의 짝, (가,나)와 (나,가)가 모두 나와요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9. CROSS JOIN · SELF JOIN  SQL과 해석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239572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조합수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 CROSS JOIN courses;      -- 18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a.name AS 학생1, b.name AS 학생2,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a.department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a.department = b.department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a.student_id &lt; b.student_id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a.student_id, b.student_id;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416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SELF JOIN 결과 7줄  (같은 학과 짝꿍)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61688"/>
          <a:ext cx="612648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department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정다솜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508760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FROM students 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학생표를 a로 한 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JOIN students 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학생표를 b로 한 번 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ON a.department = b.department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학과가 같은 사람끼리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AND a.student_id &lt; b.student_id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자신 빼고, 같은 짝은 한 번만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⑤ SELECT a.name, b.name,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이름과 학과를 보여 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4114800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문헌정보 4명에서 2명씩 짝 6개, 경영 2명에서 1개 → 7줄이에요.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10. 여러 테이블 JOIN  핵심 개념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핵심 개념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JOIN을 이어 쓰면 표를 3개, 4개도 붙일 수 있어요. 출석 기록에 학생, 회차, 과목을 모두 붙이면 '완성된 출석부'가 돼요. 기준 표 하나에 JOIN … ON을 한 줄씩 더한다고 생각해요.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기준 (출석 기록)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students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이름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class_sessions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날짜, 주차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courses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과목명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JOIN만 쓰고 ON을 하나 빠뜨림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표와는 모든 조합이 생겨 줄 수가 폭발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 앞에 별명을 안 붙임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이름 칸이 있으면 Error 1052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JOIN 순서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앞에서 이미 붙인 표의 칸으로만 ON을 쓸 수 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10. 여러 테이블 JOIN  이바다의 출석부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197876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175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c.course_name, cs.week_no,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cs.session_date, a.status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        ON a.student_id = s.student_id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class_sessions cs ON a.session_id = cs.session_id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courses c         ON cs.course_id = c.course_id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s.name = '이바다'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cs.week_no;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2468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 4줄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44722"/>
          <a:ext cx="61264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course_name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week_no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session_date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508760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FROM attendance 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 기록에서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JOIN students s ON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 이름을 붙이고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JOIN class_sessions cs ON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회차 날짜를 붙이고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JOIN courses c ON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과목 이름까지 붙여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⑤ WHERE s.name = '이바다'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⑥ SELECT …  ORDER BY cs.week_no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과목, 주차, 날짜, 상태를 주차순으로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4590288"/>
            <a:ext cx="45720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2주차가 공결인 것은 5번에서 UPDATE한 결과예요.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10. 여러 테이블 JOIN  체크 안 된 칸 찾기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1839773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6035040" cy="162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c.course_name, cs.week_no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enrollments 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        ON e.student_id = s.student_id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courses c         ON e.course_id  = c.course_id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class_sessions cs ON cs.course_id = e.course_id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attendance a ON a.session_id = cs.session_id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AND a.student_id = e.student_id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a.attendance_id IS NULL;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85693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 1줄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05733"/>
          <a:ext cx="64008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course_name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week_no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08760"/>
          <a:ext cx="4297680" cy="914400"/>
        </p:xfrm>
        <a:graphic>
          <a:graphicData uri="http://schemas.openxmlformats.org/drawingml/2006/table">
            <a:tbl>
              <a:tblPr/>
              <a:tblGrid>
                <a:gridCol w="206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FROM enrollments e + students + courses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수강생마다 이름과 과목을 붙이고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JOIN class_sessions cs ON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과목의 모든 회차를 붙여 → 출석부 빈 칸 26개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LEFT JOIN attendance a ON … AND 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칸마다 출석 기록을 찾아 붙이고, 없으면 NULL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WHERE a.attendance_id IS NULL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기록이 없는 칸만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315200" y="4480560"/>
            <a:ext cx="4297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출석해야 할 칸(26) − 실제 기록(25) = 1칸. attendance 조건은 WHERE가 아니라 ON에 AND로 붙여야 NULL 칸이 살아남아요.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11~13  계산하고 묶기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BFBF"/>
                </a:solidFill>
              </a:rPr>
              <a:t>CASE 점수 변환 · 출석점수 계산 · GROUP BY · HAVING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11. 출석 상태를 점수로 (CASE)  핵심 개념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핵심 개념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CASE는 '만약 ~라면 ~'을 SQL로 쓰는 방법이에요. 위에서부터 WHEN 조건을 검사해서 처음 맞는 THEN 값을 돌려줘요. 출석 1, 공결 1, 지각 0.5, 결석 0으로 바꿔요.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시작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조건 THEN 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맞으면 이 값 (여러 개 가능)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값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아무것도 안 맞으면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97180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081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AS 이름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52044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끝, 결과 칸 이름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END를 빠뜨림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1064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ELSE를 생략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맞는 줄은 NULL이 돼요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순서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위에서 먼저 맞으면 아래는 보지 않아요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 = '출석' OR '공결'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의도와 다르게 동작 → status IN ('출석', '공결')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11. CASE  SQL과 해석 (2주차)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239572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a.status,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a.status IN ('출석', '공결') THEN 1.0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a.status = '지각'            THEN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점수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 ON a.student_id = s.student_id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a.session_id =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s.student_id;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416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 5줄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61688"/>
          <a:ext cx="612648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508760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FROM … JOIN … WHERE session_id = 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2주차 출석에 이름을 붙이고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CASE WHEN status IN ('출석','공결')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출석이나 공결이면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THEN 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WHEN status = '지각' THEN 0.5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지각이면 0.5점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⑤ ELSE 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나머지(결석)는 0점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⑥ END AS 점수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결과 칸 이름은 '점수'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4590288"/>
            <a:ext cx="45720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점수 규칙은 학교마다 달라요. THEN 뒤의 숫자만 바꾸면 규칙을 바꿀 수 있어요.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12. 출석점수 계산  핵심 개념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핵심 개념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출석점수(20점 만점) = 점수 합 ÷ 수업 수 × 20. CASE로 바꾼 점수를 학생별로 SUM으로 더하고, 수업 수로 나누고, 20을 곱한 뒤 ROUND로 소수 첫째 자리까지 반올림해요.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CASE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상태 → 점수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5536" y="363474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310896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GROUP BY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65760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학생별로 묶기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63474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310896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SUM ÷ 수업 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65760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평균 점수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363474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3108960"/>
            <a:ext cx="25603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218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× 20, ROUND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65760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20점 만점, 반올림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COUNT(*)로 나누기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'기록 수'라서 체크 안 된 회차가 빠져요 (최나무 13.3)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수는 따로 세기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(SELECT COUNT(*) FROM class_sessions WHERE course_id = 1)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ROUND(값, 1)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소수 첫째 자리까지. 0이면 정수로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12. 출석점수  기록 수 기준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260421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6035040" cy="2384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기록수,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a.status IN ('출석','공결') THEN 1.0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WHEN a.status = '지각' THEN 0.5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ELSE 0 END) AS 점수합,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ROUND(SUM(CASE … END) / COUNT(*) * 20, 1) AS 출석점수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        ON a.student_id = s.student_id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class_sessions cs ON a.session_id = cs.session_id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cs.course_id 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s.student_id, s.name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출석점수 DESC, s.name;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0131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 5줄</a:t>
            </a:r>
            <a:endParaRPr lang="en-US" sz="13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0171"/>
          <a:ext cx="64008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출석점수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08760"/>
          <a:ext cx="4297680" cy="914400"/>
        </p:xfrm>
        <a:graphic>
          <a:graphicData uri="http://schemas.openxmlformats.org/drawingml/2006/table">
            <a:tbl>
              <a:tblPr/>
              <a:tblGrid>
                <a:gridCol w="206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FROM … JOIN … JOIN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출석에 학생, 회차를 붙이고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WHERE cs.course_id = 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GROUP BY s.student_id, s.name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학생별로 묶어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SUM(CASE … END)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묶음마다 점수를 더해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⑤ / COUNT(*) * 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수로 나누고 20 곱해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⑥ ROUND(…, 1)  ORDER 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반올림하고 점수 높은 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315200" y="4590288"/>
            <a:ext cx="42976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SQL 파일에는 CASE … END 부분이 생략 없이 들어 있어요.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12. 출석점수  수업 수 기준 (정확한 방법)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279532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6035040" cy="2575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… END) AS 점수합,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COUNT(*) FROM class_sessions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course_id = 1) AS 수업수,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ROUND(SUM(CASE … END)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 (SELECT COUNT(*) FROM class_sessions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WHERE course_id = 1) * 20, 1) AS 출석점수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        ON a.student_id = s.student_id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class_sessions cs ON a.session_id = cs.session_id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cs.course_id 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s.student_id, s.name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출석점수 DESC, s.name;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08760"/>
          <a:ext cx="4297680" cy="914400"/>
        </p:xfrm>
        <a:graphic>
          <a:graphicData uri="http://schemas.openxmlformats.org/drawingml/2006/table">
            <a:tbl>
              <a:tblPr/>
              <a:tblGrid>
                <a:gridCol w="206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(SELECT COUNT(*) FROM class_sessions WHERE course_id = 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괄호 안이 먼저 실행 → DB설계 수업 수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SUM(CASE … END) / 4 * 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 합을 실제 수업 수로 나눠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최나무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 ÷ 4 × 20 = 10.0 (체크 안 된 4주차는 0점)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0" y="4023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 5줄</a:t>
            </a:r>
            <a:endParaRPr lang="en-US" sz="1300" dirty="0"/>
          </a:p>
        </p:txBody>
      </p:sp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343400"/>
          <a:ext cx="429768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출석점수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4532681"/>
            <a:ext cx="6400800" cy="1639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괄호 안의 SELECT를 서브쿼리라고 해요. 기록 수 기준은 13.3점, 수업 수 기준은 10.0점. 어느 쪽이 맞는지는 '체크 안 된 회차를 어떻게 볼 것인가'라는 규칙의 문제예요.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13. 그룹별 조회 (GROUP BY · HAVING)  핵심 개념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핵심 개념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GROUP BY는 같은 값끼리 묶어서 묶음마다 COUNT, SUM, AVG를 계산해요. 묶기 전 줄을 거를 때는 WHERE, 묶은 결과를 거를 때는 HAVING을 써요.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실행 순서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6154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134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FROM, JOIN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1341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표 준비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0065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38400" y="2971800"/>
            <a:ext cx="16154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75560" y="3081528"/>
            <a:ext cx="134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WHERE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75560" y="3520440"/>
            <a:ext cx="1341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묶기 전 거르기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9041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28160" y="2971800"/>
            <a:ext cx="16154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65320" y="3081528"/>
            <a:ext cx="134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GROUP BY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65320" y="3520440"/>
            <a:ext cx="1341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묶기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017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7920" y="2971800"/>
            <a:ext cx="16154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081528"/>
            <a:ext cx="134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HAVING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520440"/>
            <a:ext cx="1341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묶음 거르기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993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07680" y="2971800"/>
            <a:ext cx="16154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44840" y="3081528"/>
            <a:ext cx="134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SELECT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44840" y="3520440"/>
            <a:ext cx="1341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칸 고르기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59696" y="3497580"/>
            <a:ext cx="201168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997440" y="2971800"/>
            <a:ext cx="16154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34600" y="3081528"/>
            <a:ext cx="134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ORDER BY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134600" y="3520440"/>
            <a:ext cx="1341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정렬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주의사항</a:t>
            </a:r>
            <a:endParaRPr lang="en-US" sz="13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하면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돼요 / 이렇게 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SELECT에 묶지 않은 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1055 → GROUP BY에 넣거나 집계 함수로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WHERE COUNT(*) &gt;= 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1111 → HAVING COUNT(*) &gt;= 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ENUM 칸으로 ORDER BY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 순이 아니라 정의한 순서 (출석, 지각, 결석, 공결)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13. 그룹별 조회  상태별, 학과별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출석 상태별 개수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1214323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4937760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status, COUNT(*) AS 개수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status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status;</a:t>
            </a:r>
            <a:endParaRPr lang="en-US" sz="13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1188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학과별 학생 수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508760"/>
            <a:ext cx="5303520" cy="1214323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618488"/>
            <a:ext cx="4937760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COUNT(*) AS 학생수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학생수 DESC;</a:t>
            </a:r>
            <a:endParaRPr lang="en-US" sz="130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88036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department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문헌정보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FROM attendance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출석표 25줄에서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GROUP BY status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상태가 같은 줄끼리 4묶음으로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SELECT status, COUNT(*)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묶음 이름과 줄 수를 보여 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13. 그룹별 조회  과목별·학생별 출석점수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260421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6035040" cy="2384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c.course_name, s.name,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ROUND(SUM(CASE WHEN a.status IN ('출석','공결') THEN 1.0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WHEN a.status = '지각' THEN 0.5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ELSE 0 END) / COUNT(*) * 20,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출석점수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        ON a.student_id = s.student_id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class_sessions cs ON a.session_id = cs.session_id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courses c         ON cs.course_id = c.course_id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c.course_id, c.course_name,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s.student_id, s.name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c.course_id, s.student_id;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08760"/>
          <a:ext cx="4297680" cy="914400"/>
        </p:xfrm>
        <a:graphic>
          <a:graphicData uri="http://schemas.openxmlformats.org/drawingml/2006/table">
            <a:tbl>
              <a:tblPr/>
              <a:tblGrid>
                <a:gridCol w="206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FROM … JOIN × 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출석에 학생, 회차, 과목을 붙이고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GROUP BY 과목, 학생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(과목, 학생) 짝마다 한 묶음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SUM(CASE…) / COUNT(*) * 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묶음마다 출석점수 계산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④ ORDER BY 과목, 학생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과목별로 모아 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0" y="3337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 8줄</a:t>
            </a:r>
            <a:endParaRPr lang="en-US" sz="130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3657600"/>
          <a:ext cx="429768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course_name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출석점수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자료조직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자료조직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박구름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자료조직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4341571"/>
            <a:ext cx="6400800" cy="183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GROUP BY에 칸을 두 개 쓰면 두 값이 모두 같은 줄끼리 묶여요. DB설계 5명 + 자료조직 3명 = 8묶음이에요.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13. 그룹별 조회  15점 미만만 (HAVING)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260421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5760720" cy="2384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c.course_name, s.name,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ROUND(SUM(CASE … END) / COUNT(*) * 20, 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출석점수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attendance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        ON a.student_id = s.student_id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class_sessions cs ON a.session_id = cs.session_id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courses c         ON cs.course_id = c.course_id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c.course_id, c.course_name,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s.student_id, s.name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출석점수 &lt; 15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출석점수;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0131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결과 3줄</a:t>
            </a:r>
            <a:endParaRPr lang="en-US" sz="13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0171"/>
          <a:ext cx="612648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course_name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출석점수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자료조직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최나무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95959"/>
                </a:solidFill>
              </a:rPr>
              <a:t>읽는 법  (실행되는 순서대로)</a:t>
            </a:r>
            <a:endParaRPr lang="en-US" sz="1300" dirty="0"/>
          </a:p>
        </p:txBody>
      </p:sp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508760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① GROUP BY 과목, 학생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 장과 같은 8묶음을 만들고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② HAVING 출석점수 &lt; 15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그중 15점 미만인 묶음만 남겨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③ ORDER BY 출석점수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낮은 점수부터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3163824"/>
            <a:ext cx="4572000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</a:rPr>
              <a:t>HAVING은 '묶은 다음에 거르는 WHERE'예요. WHERE에는 출석점수 같은 묶음 계산 결과를 쓸 수 없어요. MySQL은 HAVING에서 SELECT의 별명을 쓸 수 있어요.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정리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BFBF"/>
                </a:solidFill>
              </a:rPr>
              <a:t>명령 요약 · 자주 나는 오류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명령 한눈에</a:t>
            </a:r>
            <a:endParaRPr lang="en-US" sz="2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 싶은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 뼈대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읽는 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만들기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DATABASE 이름; USE 이름;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DB를 만들고 그 안으로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 만들기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표 (칸 자료형 규칙, …);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 이름, 종류, 규칙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넣기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 INTO 표 (칸) VALUES (값);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표의 이 칸들에 이 값을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칸 FROM 표 WHERE 조건 ORDER BY 칸;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표 → 어떤 줄 → 무엇을 → 순서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고치기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표 SET 칸 = 값 WHERE 조건;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표 → 어느 줄 → 무엇을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지우기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FROM 표 WHERE 조건;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표 → 어느 줄을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 TRANSACTION; … ROLLBACK; / COMMIT;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연습장 → 찢기 / 옮겨 적기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 A JOIN B ON A.id = B.id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A에 B를, 번호가 같은 줄끼리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점수로 바꾸기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CASE WHEN 조건 THEN 값 ELSE 값 END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만약 ~면 ~, 아니면 ~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묶어서 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BY 칸 HAVING 조건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값끼리 묶고, 묶음을 거르기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자주 나는 오류</a:t>
            </a:r>
            <a:endParaRPr lang="en-US" sz="2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1046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DB를 고르지 않음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 attend_db;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1064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문법 오류 (쉼표, 괄호, 따옴표, 순서)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메시지의 near '…' 바로 앞을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1054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칸 이름, 글자에 따옴표 빠짐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 이름 철자, '글자'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1052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표에 같은 칸 이름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a.student_id처럼 별명 붙이기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1062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PK, UNIQUE 값이 겹침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있는지 SELECT, 또는 1번부터 다시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1452 / 1451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부모 번호를 넣음 / 자식 있는 부모를 지움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 먼저 넣기 / 자식 먼저 지우기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1265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ENUM에 없는 값 ('조퇴')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출석, 지각, 결석, 공결 중에서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1175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Safe Updates: 키 없는 WHERE로 UPDATE·DELETE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WHERE에 PK 쓰기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1055 / 1111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 BY에 없는 칸 SELECT / WHERE에 집계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 BY에 추가 / HAVING으로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">
  <a:themeElements>
    <a:clrScheme name="Mono">
      <a:dk1>
        <a:srgbClr val="000000"/>
      </a:dk1>
      <a:lt1>
        <a:srgbClr val="FFFFFF"/>
      </a:lt1>
      <a:dk2>
        <a:srgbClr val="333333"/>
      </a:dk2>
      <a:lt2>
        <a:srgbClr val="F2F2F2"/>
      </a:lt2>
      <a:accent1>
        <a:srgbClr val="000000"/>
      </a:accent1>
      <a:accent2>
        <a:srgbClr val="595959"/>
      </a:accent2>
      <a:accent3>
        <a:srgbClr val="808080"/>
      </a:accent3>
      <a:accent4>
        <a:srgbClr val="A6A6A6"/>
      </a:accent4>
      <a:accent5>
        <a:srgbClr val="BFBFBF"/>
      </a:accent5>
      <a:accent6>
        <a:srgbClr val="D9D9D9"/>
      </a:accent6>
      <a:hlink>
        <a:srgbClr val="000000"/>
      </a:hlink>
      <a:folHlink>
        <a:srgbClr val="595959"/>
      </a:folHlink>
    </a:clrScheme>
    <a:fontScheme name="Mon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6741</Words>
  <Application>Microsoft Office PowerPoint</Application>
  <PresentationFormat>와이드스크린</PresentationFormat>
  <Paragraphs>1499</Paragraphs>
  <Slides>48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3" baseType="lpstr">
      <vt:lpstr>Malgun Gothic</vt:lpstr>
      <vt:lpstr>Malgun Gothic</vt:lpstr>
      <vt:lpstr>Arial</vt:lpstr>
      <vt:lpstr>Courier New</vt:lpstr>
      <vt:lpstr>Mono</vt:lpstr>
      <vt:lpstr>출석부 DB로 배우는 MySQL 핵심 실습</vt:lpstr>
      <vt:lpstr>PowerPoint 프레젠테이션</vt:lpstr>
      <vt:lpstr>PowerPoint 프레젠테이션</vt:lpstr>
      <vt:lpstr>출석부 테이블 5개와 연결</vt:lpstr>
      <vt:lpstr>SQL쓰는 순서와 실행 순서 다름</vt:lpstr>
      <vt:lpstr>1~3  만들고 넣기</vt:lpstr>
      <vt:lpstr>1. DB 만들기</vt:lpstr>
      <vt:lpstr>1. DB 만들기_SQL</vt:lpstr>
      <vt:lpstr>2. 테이블 만들기</vt:lpstr>
      <vt:lpstr>2. 테이블 만들기  students</vt:lpstr>
      <vt:lpstr>2. 테이블 만들기  attendance (규칙과 연결)</vt:lpstr>
      <vt:lpstr>3. 데이터 넣기</vt:lpstr>
      <vt:lpstr>3. 데이터 넣기  SQL</vt:lpstr>
      <vt:lpstr>3. 넣은 데이터 한눈에</vt:lpstr>
      <vt:lpstr>4~6  보고, 고치고, 지우기</vt:lpstr>
      <vt:lpstr>4. 조회</vt:lpstr>
      <vt:lpstr>4. 조회  SQL</vt:lpstr>
      <vt:lpstr>4. 조회  여러 가지 조건</vt:lpstr>
      <vt:lpstr>5. 수정</vt:lpstr>
      <vt:lpstr>5. 수정  SQL과 해석</vt:lpstr>
      <vt:lpstr>6. 삭제  핵심 개념</vt:lpstr>
      <vt:lpstr>6. 삭제  잘못 넣은 기록 지우기</vt:lpstr>
      <vt:lpstr>6. 삭제  트랜잭션으로 되돌리기</vt:lpstr>
      <vt:lpstr>7~10  JOIN</vt:lpstr>
      <vt:lpstr>7. INNER JOIN  핵심 개념</vt:lpstr>
      <vt:lpstr>7. INNER JOIN  SQL과 해석</vt:lpstr>
      <vt:lpstr>8. OUTER JOIN (LEFT · RIGHT · FULL)  핵심 개념</vt:lpstr>
      <vt:lpstr>JOIN 방식 한눈에: 무엇을 남기나</vt:lpstr>
      <vt:lpstr>8. LEFT JOIN  모든 학생과 수강 과목</vt:lpstr>
      <vt:lpstr>8. RIGHT JOIN · FULL  모든 과목, 그리고 양쪽 모두</vt:lpstr>
      <vt:lpstr>9. CROSS JOIN · SELF JOIN  핵심 개념</vt:lpstr>
      <vt:lpstr>9. CROSS JOIN · SELF JOIN  SQL과 해석</vt:lpstr>
      <vt:lpstr>10. 여러 테이블 JOIN  핵심 개념</vt:lpstr>
      <vt:lpstr>10. 여러 테이블 JOIN  이바다의 출석부</vt:lpstr>
      <vt:lpstr>10. 여러 테이블 JOIN  체크 안 된 칸 찾기</vt:lpstr>
      <vt:lpstr>11~13  계산하고 묶기</vt:lpstr>
      <vt:lpstr>11. 출석 상태를 점수로 (CASE)  핵심 개념</vt:lpstr>
      <vt:lpstr>11. CASE  SQL과 해석 (2주차)</vt:lpstr>
      <vt:lpstr>12. 출석점수 계산  핵심 개념</vt:lpstr>
      <vt:lpstr>12. 출석점수  기록 수 기준</vt:lpstr>
      <vt:lpstr>12. 출석점수  수업 수 기준 (정확한 방법)</vt:lpstr>
      <vt:lpstr>13. 그룹별 조회 (GROUP BY · HAVING)  핵심 개념</vt:lpstr>
      <vt:lpstr>13. 그룹별 조회  상태별, 학과별</vt:lpstr>
      <vt:lpstr>13. 그룹별 조회  과목별·학생별 출석점수</vt:lpstr>
      <vt:lpstr>13. 그룹별 조회  15점 미만만 (HAVING)</vt:lpstr>
      <vt:lpstr>정리</vt:lpstr>
      <vt:lpstr>명령 한눈에</vt:lpstr>
      <vt:lpstr>자주 나는 오류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출석부 DB로 배우는 MySQL 핵심 실습</dc:title>
  <dc:subject>PptxGenJS Presentation</dc:subject>
  <dc:creator>PptxGenJS</dc:creator>
  <cp:lastModifiedBy>USER</cp:lastModifiedBy>
  <cp:revision>3</cp:revision>
  <dcterms:created xsi:type="dcterms:W3CDTF">2026-10-29T23:30:21Z</dcterms:created>
  <dcterms:modified xsi:type="dcterms:W3CDTF">2026-10-29T23:50:28Z</dcterms:modified>
</cp:coreProperties>
</file>